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x="9144000" cy="5138928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" cy="5138928"/>
          </a:xfrm>
          <a:prstGeom prst="rect">
            <a:avLst/>
          </a:prstGeom>
          <a:solidFill>
            <a:srgbClr val="FF8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645920"/>
            <a:ext cx="73152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FF8055"/>
                </a:solidFill>
                <a:latin typeface="Arial"/>
              </a:defRPr>
            </a:pPr>
            <a:r>
              <a:t>AI per 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377440"/>
            <a:ext cx="73152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FF8055"/>
                </a:solidFill>
                <a:latin typeface="Arial"/>
              </a:defRPr>
            </a:pPr>
            <a:r>
              <a:t>Marketing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291840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  <a:latin typeface="Arial"/>
              </a:defRPr>
            </a:pPr>
            <a:r>
              <a:t>Creare Contenuti e Immagini nel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FFFFF"/>
                </a:solidFill>
                <a:latin typeface="Arial"/>
              </a:defRPr>
            </a:pPr>
            <a:r>
              <a:t>AI MARKETING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Arial"/>
              </a:defRPr>
            </a:pPr>
            <a:r>
              <a:t>AGENDA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43000"/>
            <a:ext cx="8229600" cy="475488"/>
          </a:xfrm>
          <a:prstGeom prst="rect">
            <a:avLst/>
          </a:prstGeom>
          <a:solidFill>
            <a:srgbClr val="252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143000"/>
            <a:ext cx="73152" cy="475488"/>
          </a:xfrm>
          <a:prstGeom prst="rect">
            <a:avLst/>
          </a:prstGeom>
          <a:solidFill>
            <a:srgbClr val="FF8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216152"/>
            <a:ext cx="365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8055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1216152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  <a:latin typeface="Arial"/>
              </a:defRPr>
            </a:pPr>
            <a:r>
              <a:t>AI Fluency: Le 4D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0" y="1216152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69696"/>
                </a:solidFill>
                <a:latin typeface="Arial"/>
              </a:defRPr>
            </a:pPr>
            <a:r>
              <a:t>25 min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709928"/>
            <a:ext cx="8229600" cy="475488"/>
          </a:xfrm>
          <a:prstGeom prst="rect">
            <a:avLst/>
          </a:prstGeom>
          <a:solidFill>
            <a:srgbClr val="252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1709928"/>
            <a:ext cx="73152" cy="475488"/>
          </a:xfrm>
          <a:prstGeom prst="rect">
            <a:avLst/>
          </a:prstGeom>
          <a:solidFill>
            <a:srgbClr val="FF8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1783080"/>
            <a:ext cx="365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8055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178308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  <a:latin typeface="Arial"/>
              </a:defRPr>
            </a:pPr>
            <a:r>
              <a:t>Esempi Testi (3 livelli)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0" y="178308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69696"/>
                </a:solidFill>
                <a:latin typeface="Arial"/>
              </a:defRPr>
            </a:pPr>
            <a:r>
              <a:t>25 min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2276856"/>
            <a:ext cx="8229600" cy="475488"/>
          </a:xfrm>
          <a:prstGeom prst="rect">
            <a:avLst/>
          </a:prstGeom>
          <a:solidFill>
            <a:srgbClr val="252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2276856"/>
            <a:ext cx="73152" cy="475488"/>
          </a:xfrm>
          <a:prstGeom prst="rect">
            <a:avLst/>
          </a:prstGeom>
          <a:solidFill>
            <a:srgbClr val="FF8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2350008"/>
            <a:ext cx="365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8055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2350008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  <a:latin typeface="Arial"/>
              </a:defRPr>
            </a:pPr>
            <a:r>
              <a:t>Esempi Immagini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0" y="2350008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69696"/>
                </a:solidFill>
                <a:latin typeface="Arial"/>
              </a:defRPr>
            </a:pPr>
            <a:r>
              <a:t>25 min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2843784"/>
            <a:ext cx="8229600" cy="475488"/>
          </a:xfrm>
          <a:prstGeom prst="rect">
            <a:avLst/>
          </a:prstGeom>
          <a:solidFill>
            <a:srgbClr val="252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2843784"/>
            <a:ext cx="73152" cy="475488"/>
          </a:xfrm>
          <a:prstGeom prst="rect">
            <a:avLst/>
          </a:prstGeom>
          <a:solidFill>
            <a:srgbClr val="FF8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2916936"/>
            <a:ext cx="365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8055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2916936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  <a:latin typeface="Arial"/>
              </a:defRPr>
            </a:pPr>
            <a:r>
              <a:t>Strumenti Overview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0" y="2916936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69696"/>
                </a:solidFill>
                <a:latin typeface="Arial"/>
              </a:defRPr>
            </a:pPr>
            <a:r>
              <a:t>20 min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3410712"/>
            <a:ext cx="8229600" cy="475488"/>
          </a:xfrm>
          <a:prstGeom prst="rect">
            <a:avLst/>
          </a:prstGeom>
          <a:solidFill>
            <a:srgbClr val="252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57200" y="3410712"/>
            <a:ext cx="73152" cy="475488"/>
          </a:xfrm>
          <a:prstGeom prst="rect">
            <a:avLst/>
          </a:prstGeom>
          <a:solidFill>
            <a:srgbClr val="FF8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3483864"/>
            <a:ext cx="365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8055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" y="3483864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  <a:latin typeface="Arial"/>
              </a:defRPr>
            </a:pPr>
            <a:r>
              <a:t>Esercitazione Interattiva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0" y="3483864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69696"/>
                </a:solidFill>
                <a:latin typeface="Arial"/>
              </a:defRPr>
            </a:pPr>
            <a:r>
              <a:t>20 min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3977640"/>
            <a:ext cx="8229600" cy="475488"/>
          </a:xfrm>
          <a:prstGeom prst="rect">
            <a:avLst/>
          </a:prstGeom>
          <a:solidFill>
            <a:srgbClr val="252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57200" y="3977640"/>
            <a:ext cx="73152" cy="475488"/>
          </a:xfrm>
          <a:prstGeom prst="rect">
            <a:avLst/>
          </a:prstGeom>
          <a:solidFill>
            <a:srgbClr val="FF8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" y="4050792"/>
            <a:ext cx="365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8055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7280" y="4050792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  <a:latin typeface="Arial"/>
              </a:defRPr>
            </a:pPr>
            <a:r>
              <a:t>Q&amp;A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0" y="4050792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69696"/>
                </a:solidFill>
                <a:latin typeface="Arial"/>
              </a:defRPr>
            </a:pPr>
            <a:r>
              <a:t>5 min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" cy="5138928"/>
          </a:xfrm>
          <a:prstGeom prst="rect">
            <a:avLst/>
          </a:prstGeom>
          <a:solidFill>
            <a:srgbClr val="FF8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645920"/>
            <a:ext cx="73152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FF8055"/>
                </a:solidFill>
                <a:latin typeface="Arial"/>
              </a:defRPr>
            </a:pPr>
            <a:r>
              <a:t>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377440"/>
            <a:ext cx="73152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FF8055"/>
                </a:solidFill>
                <a:latin typeface="Arial"/>
              </a:defRPr>
            </a:pPr>
            <a:r>
              <a:t>Fluency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291840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  <a:latin typeface="Arial"/>
              </a:defRPr>
            </a:pPr>
            <a:r>
              <a:t>Collaborare efficacemente con l'intelligenza artificiale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FFFFF"/>
                </a:solidFill>
                <a:latin typeface="Arial"/>
              </a:defRPr>
            </a:pPr>
            <a:r>
              <a:t>AI FLUENCY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Arial"/>
              </a:defRPr>
            </a:pPr>
            <a:r>
              <a:t>COS'È L'AI FLUENCY?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FFFFF"/>
                </a:solidFill>
                <a:latin typeface="Arial"/>
              </a:defRPr>
            </a:pPr>
            <a:r>
              <a:t>• La capacità di collaborare efficacemente con l'intelligenza artificiale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916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FFFFF"/>
                </a:solidFill>
                <a:latin typeface="Arial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457200" y="21945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FFFFF"/>
                </a:solidFill>
                <a:latin typeface="Arial"/>
              </a:defRPr>
            </a:pPr>
            <a:r>
              <a:t>• Non si tratta di sapere come funziona l'AI...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6974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FFFFF"/>
                </a:solidFill>
                <a:latin typeface="Arial"/>
              </a:defRPr>
            </a:pPr>
            <a:r>
              <a:t>• ...ma di sapere come comunicare con l'AI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2004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FFFFF"/>
                </a:solidFill>
                <a:latin typeface="Arial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457200" y="37033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FFFFF"/>
                </a:solidFill>
                <a:latin typeface="Arial"/>
              </a:defRPr>
            </a:pPr>
            <a:r>
              <a:t>• L'AI non legge nel pensiero: più contesto dai, migliori risultati ottieni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FFFFF"/>
                </a:solidFill>
                <a:latin typeface="Arial"/>
              </a:defRPr>
            </a:pPr>
            <a:r>
              <a:t>AI FLUENCY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Arial"/>
              </a:defRPr>
            </a:pPr>
            <a:r>
              <a:t>LE 4D DELLA COLLABORAZIONE CON L'AI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280160"/>
            <a:ext cx="2011680" cy="3474720"/>
          </a:xfrm>
          <a:prstGeom prst="rect">
            <a:avLst/>
          </a:prstGeom>
          <a:solidFill>
            <a:srgbClr val="252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280160"/>
            <a:ext cx="73152" cy="3474720"/>
          </a:xfrm>
          <a:prstGeom prst="rect">
            <a:avLst/>
          </a:prstGeom>
          <a:solidFill>
            <a:srgbClr val="FF8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46304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F8055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828800"/>
            <a:ext cx="1737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Arial"/>
              </a:defRPr>
            </a:pPr>
            <a:r>
              <a:t>Delegation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377440"/>
            <a:ext cx="17373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FFFFF"/>
                </a:solidFill>
                <a:latin typeface="Arial"/>
              </a:defRPr>
            </a:pPr>
            <a:r>
              <a:t>Scegliere cosa delegare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23160" y="1280160"/>
            <a:ext cx="2011680" cy="3474720"/>
          </a:xfrm>
          <a:prstGeom prst="rect">
            <a:avLst/>
          </a:prstGeom>
          <a:solidFill>
            <a:srgbClr val="252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423160" y="1280160"/>
            <a:ext cx="73152" cy="3474720"/>
          </a:xfrm>
          <a:prstGeom prst="rect">
            <a:avLst/>
          </a:prstGeom>
          <a:solidFill>
            <a:srgbClr val="FF8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06040" y="146304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F8055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06040" y="1828800"/>
            <a:ext cx="1737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Arial"/>
              </a:defRPr>
            </a:pPr>
            <a:r>
              <a:t>Description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06040" y="2377440"/>
            <a:ext cx="17373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FFFFF"/>
                </a:solidFill>
                <a:latin typeface="Arial"/>
              </a:defRPr>
            </a:pPr>
            <a:r>
              <a:t>Descrivere bene il compito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0" y="1280160"/>
            <a:ext cx="2011680" cy="3474720"/>
          </a:xfrm>
          <a:prstGeom prst="rect">
            <a:avLst/>
          </a:prstGeom>
          <a:solidFill>
            <a:srgbClr val="252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0" y="1280160"/>
            <a:ext cx="73152" cy="3474720"/>
          </a:xfrm>
          <a:prstGeom prst="rect">
            <a:avLst/>
          </a:prstGeom>
          <a:solidFill>
            <a:srgbClr val="FF8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54880" y="146304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F8055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4880" y="1828800"/>
            <a:ext cx="1737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Arial"/>
              </a:defRPr>
            </a:pPr>
            <a:r>
              <a:t>Discernment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54880" y="2377440"/>
            <a:ext cx="17373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FFFFF"/>
                </a:solidFill>
                <a:latin typeface="Arial"/>
              </a:defRPr>
            </a:pPr>
            <a:r>
              <a:t>Valutare l'output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720840" y="1280160"/>
            <a:ext cx="2011680" cy="3474720"/>
          </a:xfrm>
          <a:prstGeom prst="rect">
            <a:avLst/>
          </a:prstGeom>
          <a:solidFill>
            <a:srgbClr val="252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720840" y="1280160"/>
            <a:ext cx="73152" cy="3474720"/>
          </a:xfrm>
          <a:prstGeom prst="rect">
            <a:avLst/>
          </a:prstGeom>
          <a:solidFill>
            <a:srgbClr val="FF8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03720" y="146304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F8055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3720" y="1828800"/>
            <a:ext cx="1737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Arial"/>
              </a:defRPr>
            </a:pPr>
            <a:r>
              <a:t>Diligence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03720" y="2377440"/>
            <a:ext cx="17373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FFFFF"/>
                </a:solidFill>
                <a:latin typeface="Arial"/>
              </a:defRPr>
            </a:pPr>
            <a:r>
              <a:t>Verificare accuratezza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FFFFF"/>
                </a:solidFill>
                <a:latin typeface="Arial"/>
              </a:defRPr>
            </a:pPr>
            <a:r>
              <a:t>AI FLUENCY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8055"/>
                </a:solidFill>
                <a:latin typeface="Arial"/>
              </a:defRPr>
            </a:pPr>
            <a:r>
              <a:t>1. DELEGATION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  <a:latin typeface="Arial"/>
              </a:defRPr>
            </a:pPr>
            <a:r>
              <a:t>Scegliere quali task delegare all'AI - non tutto è adatto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645920"/>
            <a:ext cx="4114800" cy="2011680"/>
          </a:xfrm>
          <a:prstGeom prst="rect">
            <a:avLst/>
          </a:prstGeom>
          <a:solidFill>
            <a:srgbClr val="252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645920"/>
            <a:ext cx="73152" cy="2011680"/>
          </a:xfrm>
          <a:prstGeom prst="rect">
            <a:avLst/>
          </a:prstGeom>
          <a:solidFill>
            <a:srgbClr val="4499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737360"/>
            <a:ext cx="3840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449955"/>
                </a:solidFill>
                <a:latin typeface="Arial"/>
              </a:defRPr>
            </a:pPr>
            <a:r>
              <a:t>SI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01168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FFFFF"/>
                </a:solidFill>
                <a:latin typeface="Arial"/>
              </a:defRPr>
            </a:pPr>
            <a:r>
              <a:t>• Bozze e prime stesure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3774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FFFFF"/>
                </a:solidFill>
                <a:latin typeface="Arial"/>
              </a:defRPr>
            </a:pPr>
            <a:r>
              <a:t>• Brainstorming e varianti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74320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FFFFF"/>
                </a:solidFill>
                <a:latin typeface="Arial"/>
              </a:defRPr>
            </a:pPr>
            <a:r>
              <a:t>• Ricerca e sintesi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10896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FFFFF"/>
                </a:solidFill>
                <a:latin typeface="Arial"/>
              </a:defRPr>
            </a:pPr>
            <a:r>
              <a:t>• Task ripetitivi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0" y="1645920"/>
            <a:ext cx="4114800" cy="2011680"/>
          </a:xfrm>
          <a:prstGeom prst="rect">
            <a:avLst/>
          </a:prstGeom>
          <a:solidFill>
            <a:srgbClr val="252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0" y="1645920"/>
            <a:ext cx="73152" cy="2011680"/>
          </a:xfrm>
          <a:prstGeom prst="rect">
            <a:avLst/>
          </a:prstGeom>
          <a:solidFill>
            <a:srgbClr val="99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54880" y="1737360"/>
            <a:ext cx="3840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994444"/>
                </a:solidFill>
                <a:latin typeface="Arial"/>
              </a:defRPr>
            </a:pPr>
            <a:r>
              <a:t>NO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0" y="201168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FFFFF"/>
                </a:solidFill>
                <a:latin typeface="Arial"/>
              </a:defRPr>
            </a:pPr>
            <a:r>
              <a:t>• Decisioni strategiche finali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80" y="23774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FFFFF"/>
                </a:solidFill>
                <a:latin typeface="Arial"/>
              </a:defRPr>
            </a:pPr>
            <a:r>
              <a:t>• Valutazioni etiche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4880" y="274320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FFFFF"/>
                </a:solidFill>
                <a:latin typeface="Arial"/>
              </a:defRPr>
            </a:pPr>
            <a:r>
              <a:t>• Relazioni personali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54880" y="310896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FFFFF"/>
                </a:solidFill>
                <a:latin typeface="Arial"/>
              </a:defRPr>
            </a:pPr>
            <a:r>
              <a:t>• Dati sensibili senza policy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" y="3840480"/>
            <a:ext cx="8595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i="1">
                <a:solidFill>
                  <a:srgbClr val="FF8055"/>
                </a:solidFill>
                <a:latin typeface="Arial"/>
              </a:defRPr>
            </a:pPr>
            <a:r>
              <a:t>Domanda chiave: "Questo task è adatto all'AI?"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  <a:latin typeface="Arial"/>
              </a:defRPr>
            </a:pPr>
            <a:r>
              <a:t>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FFFFF"/>
                </a:solidFill>
                <a:latin typeface="Arial"/>
              </a:defRPr>
            </a:pPr>
            <a:r>
              <a:t>AI FLUENCY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8055"/>
                </a:solidFill>
                <a:latin typeface="Arial"/>
              </a:defRPr>
            </a:pPr>
            <a:r>
              <a:t>2. DESCRIPTION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  <a:latin typeface="Arial"/>
              </a:defRPr>
            </a:pPr>
            <a:r>
              <a:t>Fornire contesto completo - l'AI non conosce la tua azienda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645920"/>
            <a:ext cx="4114800" cy="2011680"/>
          </a:xfrm>
          <a:prstGeom prst="rect">
            <a:avLst/>
          </a:prstGeom>
          <a:solidFill>
            <a:srgbClr val="252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645920"/>
            <a:ext cx="73152" cy="2011680"/>
          </a:xfrm>
          <a:prstGeom prst="rect">
            <a:avLst/>
          </a:prstGeom>
          <a:solidFill>
            <a:srgbClr val="4499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737360"/>
            <a:ext cx="3840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449955"/>
                </a:solidFill>
                <a:latin typeface="Arial"/>
              </a:defRPr>
            </a:pPr>
            <a:r>
              <a:t>SI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01168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FFFFF"/>
                </a:solidFill>
                <a:latin typeface="Arial"/>
              </a:defRPr>
            </a:pPr>
            <a:r>
              <a:t>• Target specifico con età e pain point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3774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FFFFF"/>
                </a:solidFill>
                <a:latin typeface="Arial"/>
              </a:defRPr>
            </a:pPr>
            <a:r>
              <a:t>• Tono di voce definito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74320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FFFFF"/>
                </a:solidFill>
                <a:latin typeface="Arial"/>
              </a:defRPr>
            </a:pPr>
            <a:r>
              <a:t>• Vincoli chiari (lunghezza, formato)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10896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FFFFF"/>
                </a:solidFill>
                <a:latin typeface="Arial"/>
              </a:defRPr>
            </a:pPr>
            <a:r>
              <a:t>• Esempi di cosa evitare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0" y="1645920"/>
            <a:ext cx="4114800" cy="2011680"/>
          </a:xfrm>
          <a:prstGeom prst="rect">
            <a:avLst/>
          </a:prstGeom>
          <a:solidFill>
            <a:srgbClr val="252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0" y="1645920"/>
            <a:ext cx="73152" cy="2011680"/>
          </a:xfrm>
          <a:prstGeom prst="rect">
            <a:avLst/>
          </a:prstGeom>
          <a:solidFill>
            <a:srgbClr val="99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54880" y="1737360"/>
            <a:ext cx="3840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994444"/>
                </a:solidFill>
                <a:latin typeface="Arial"/>
              </a:defRPr>
            </a:pPr>
            <a:r>
              <a:t>NO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0" y="201168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FFFFF"/>
                </a:solidFill>
                <a:latin typeface="Arial"/>
              </a:defRPr>
            </a:pPr>
            <a:r>
              <a:t>• Prompt vaghi senza contesto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80" y="23774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FFFFF"/>
                </a:solidFill>
                <a:latin typeface="Arial"/>
              </a:defRPr>
            </a:pPr>
            <a:r>
              <a:t>• Assumere che 'capisce'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4880" y="274320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FFFFF"/>
                </a:solidFill>
                <a:latin typeface="Arial"/>
              </a:defRPr>
            </a:pPr>
            <a:r>
              <a:t>• Non specificare il formato output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54880" y="310896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FFFFF"/>
                </a:solidFill>
                <a:latin typeface="Arial"/>
              </a:defRPr>
            </a:pPr>
            <a:r>
              <a:t>• Saltare i vincoli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" y="3840480"/>
            <a:ext cx="8595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i="1">
                <a:solidFill>
                  <a:srgbClr val="FF8055"/>
                </a:solidFill>
                <a:latin typeface="Arial"/>
              </a:defRPr>
            </a:pPr>
            <a:r>
              <a:t>Domanda chiave: "Ho dato abbastanza contesto?"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  <a:latin typeface="Arial"/>
              </a:defRPr>
            </a:pPr>
            <a:r>
              <a:t>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FFFFF"/>
                </a:solidFill>
                <a:latin typeface="Arial"/>
              </a:defRPr>
            </a:pPr>
            <a:r>
              <a:t>AI FLUENCY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8055"/>
                </a:solidFill>
                <a:latin typeface="Arial"/>
              </a:defRPr>
            </a:pPr>
            <a:r>
              <a:t>3. DISCERNMENT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  <a:latin typeface="Arial"/>
              </a:defRPr>
            </a:pPr>
            <a:r>
              <a:t>Valutare criticamente ogni output - non tutto è pubblicabile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645920"/>
            <a:ext cx="4114800" cy="2011680"/>
          </a:xfrm>
          <a:prstGeom prst="rect">
            <a:avLst/>
          </a:prstGeom>
          <a:solidFill>
            <a:srgbClr val="252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645920"/>
            <a:ext cx="73152" cy="2011680"/>
          </a:xfrm>
          <a:prstGeom prst="rect">
            <a:avLst/>
          </a:prstGeom>
          <a:solidFill>
            <a:srgbClr val="4499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737360"/>
            <a:ext cx="3840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449955"/>
                </a:solidFill>
                <a:latin typeface="Arial"/>
              </a:defRPr>
            </a:pPr>
            <a:r>
              <a:t>SI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01168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FFFFF"/>
                </a:solidFill>
                <a:latin typeface="Arial"/>
              </a:defRPr>
            </a:pPr>
            <a:r>
              <a:t>• Verificare tono e accuratezza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3774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FFFFF"/>
                </a:solidFill>
                <a:latin typeface="Arial"/>
              </a:defRPr>
            </a:pPr>
            <a:r>
              <a:t>• Chiedere varianti se non convince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74320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FFFFF"/>
                </a:solidFill>
                <a:latin typeface="Arial"/>
              </a:defRPr>
            </a:pPr>
            <a:r>
              <a:t>• Iterare e raffinare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10896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FFFFF"/>
                </a:solidFill>
                <a:latin typeface="Arial"/>
              </a:defRPr>
            </a:pPr>
            <a:r>
              <a:t>• Usare come bozza, non finale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0" y="1645920"/>
            <a:ext cx="4114800" cy="2011680"/>
          </a:xfrm>
          <a:prstGeom prst="rect">
            <a:avLst/>
          </a:prstGeom>
          <a:solidFill>
            <a:srgbClr val="252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0" y="1645920"/>
            <a:ext cx="73152" cy="2011680"/>
          </a:xfrm>
          <a:prstGeom prst="rect">
            <a:avLst/>
          </a:prstGeom>
          <a:solidFill>
            <a:srgbClr val="99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54880" y="1737360"/>
            <a:ext cx="3840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994444"/>
                </a:solidFill>
                <a:latin typeface="Arial"/>
              </a:defRPr>
            </a:pPr>
            <a:r>
              <a:t>NO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0" y="201168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FFFFF"/>
                </a:solidFill>
                <a:latin typeface="Arial"/>
              </a:defRPr>
            </a:pPr>
            <a:r>
              <a:t>• Pubblicare senza leggere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80" y="23774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FFFFF"/>
                </a:solidFill>
                <a:latin typeface="Arial"/>
              </a:defRPr>
            </a:pPr>
            <a:r>
              <a:t>• Accettare il primo output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4880" y="274320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FFFFF"/>
                </a:solidFill>
                <a:latin typeface="Arial"/>
              </a:defRPr>
            </a:pPr>
            <a:r>
              <a:t>• Ignorare incongruenze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54880" y="310896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FFFFF"/>
                </a:solidFill>
                <a:latin typeface="Arial"/>
              </a:defRPr>
            </a:pPr>
            <a:r>
              <a:t>• Fidarsi di numeri/date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" y="3840480"/>
            <a:ext cx="8595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i="1">
                <a:solidFill>
                  <a:srgbClr val="FF8055"/>
                </a:solidFill>
                <a:latin typeface="Arial"/>
              </a:defRPr>
            </a:pPr>
            <a:r>
              <a:t>Domanda chiave: "Questo risultato è usabile così com'è?"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  <a:latin typeface="Arial"/>
              </a:defRPr>
            </a:pPr>
            <a:r>
              <a:t>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FFFFF"/>
                </a:solidFill>
                <a:latin typeface="Arial"/>
              </a:defRPr>
            </a:pPr>
            <a:r>
              <a:t>AI FLUENCY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8055"/>
                </a:solidFill>
                <a:latin typeface="Arial"/>
              </a:defRPr>
            </a:pPr>
            <a:r>
              <a:t>4. DILIGENCE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  <a:latin typeface="Arial"/>
              </a:defRPr>
            </a:pPr>
            <a:r>
              <a:t>Verificare fatti, numeri e fonti - l'AI può 'allucinare'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645920"/>
            <a:ext cx="4114800" cy="2011680"/>
          </a:xfrm>
          <a:prstGeom prst="rect">
            <a:avLst/>
          </a:prstGeom>
          <a:solidFill>
            <a:srgbClr val="252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645920"/>
            <a:ext cx="73152" cy="2011680"/>
          </a:xfrm>
          <a:prstGeom prst="rect">
            <a:avLst/>
          </a:prstGeom>
          <a:solidFill>
            <a:srgbClr val="4499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737360"/>
            <a:ext cx="3840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449955"/>
                </a:solidFill>
                <a:latin typeface="Arial"/>
              </a:defRPr>
            </a:pPr>
            <a:r>
              <a:t>SI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01168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FFFFF"/>
                </a:solidFill>
                <a:latin typeface="Arial"/>
              </a:defRPr>
            </a:pPr>
            <a:r>
              <a:t>• Verificare statistiche citate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3774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FFFFF"/>
                </a:solidFill>
                <a:latin typeface="Arial"/>
              </a:defRPr>
            </a:pPr>
            <a:r>
              <a:t>• Controllare nomi e 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74320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FFFFF"/>
                </a:solidFill>
                <a:latin typeface="Arial"/>
              </a:defRPr>
            </a:pPr>
            <a:r>
              <a:t>• Fact-check affermazioni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10896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FFFFF"/>
                </a:solidFill>
                <a:latin typeface="Arial"/>
              </a:defRPr>
            </a:pPr>
            <a:r>
              <a:t>• Validare con fonti esterne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0" y="1645920"/>
            <a:ext cx="4114800" cy="2011680"/>
          </a:xfrm>
          <a:prstGeom prst="rect">
            <a:avLst/>
          </a:prstGeom>
          <a:solidFill>
            <a:srgbClr val="252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0" y="1645920"/>
            <a:ext cx="73152" cy="2011680"/>
          </a:xfrm>
          <a:prstGeom prst="rect">
            <a:avLst/>
          </a:prstGeom>
          <a:solidFill>
            <a:srgbClr val="99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54880" y="1737360"/>
            <a:ext cx="3840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994444"/>
                </a:solidFill>
                <a:latin typeface="Arial"/>
              </a:defRPr>
            </a:pPr>
            <a:r>
              <a:t>NO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0" y="201168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FFFFF"/>
                </a:solidFill>
                <a:latin typeface="Arial"/>
              </a:defRPr>
            </a:pPr>
            <a:r>
              <a:t>• Fidarsi di numeri inventati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80" y="23774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FFFFF"/>
                </a:solidFill>
                <a:latin typeface="Arial"/>
              </a:defRPr>
            </a:pPr>
            <a:r>
              <a:t>• Citare senza verificare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4880" y="274320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FFFFF"/>
                </a:solidFill>
                <a:latin typeface="Arial"/>
              </a:defRPr>
            </a:pPr>
            <a:r>
              <a:t>• Assumere che i fatti siano corretti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54880" y="310896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FFFFF"/>
                </a:solidFill>
                <a:latin typeface="Arial"/>
              </a:defRPr>
            </a:pPr>
            <a:r>
              <a:t>• Pubblicare dati sensibili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" y="3840480"/>
            <a:ext cx="8595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i="1">
                <a:solidFill>
                  <a:srgbClr val="FF8055"/>
                </a:solidFill>
                <a:latin typeface="Arial"/>
              </a:defRPr>
            </a:pPr>
            <a:r>
              <a:t>Domanda chiave: "Ho verificato i fatti?"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" cy="5138928"/>
          </a:xfrm>
          <a:prstGeom prst="rect">
            <a:avLst/>
          </a:prstGeom>
          <a:solidFill>
            <a:srgbClr val="FF8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645920"/>
            <a:ext cx="73152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FF8055"/>
                </a:solidFill>
                <a:latin typeface="Arial"/>
              </a:defRPr>
            </a:pPr>
            <a:r>
              <a:t>Esempi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377440"/>
            <a:ext cx="73152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FF8055"/>
                </a:solidFill>
                <a:latin typeface="Arial"/>
              </a:defRPr>
            </a:pPr>
            <a:r>
              <a:t>Testi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291840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  <a:latin typeface="Arial"/>
              </a:defRPr>
            </a:pPr>
            <a:r>
              <a:t>Scarso vs Efficace vs Avanzato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  <a:latin typeface="Arial"/>
              </a:defRPr>
            </a:pPr>
            <a:r>
              <a:t>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FFFFF"/>
                </a:solidFill>
                <a:latin typeface="Arial"/>
              </a:defRPr>
            </a:pPr>
            <a:r>
              <a:t>ESEMPI TESTI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Arial"/>
              </a:defRPr>
            </a:pPr>
            <a:r>
              <a:t>ESEMPIO 1: POST INSTAGRAM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914400"/>
            <a:ext cx="2743200" cy="3931920"/>
          </a:xfrm>
          <a:prstGeom prst="rect">
            <a:avLst/>
          </a:prstGeom>
          <a:solidFill>
            <a:srgbClr val="252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914400"/>
            <a:ext cx="54864" cy="3931920"/>
          </a:xfrm>
          <a:prstGeom prst="rect">
            <a:avLst/>
          </a:prstGeom>
          <a:solidFill>
            <a:srgbClr val="99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79" y="1005840"/>
            <a:ext cx="2560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994444"/>
                </a:solidFill>
                <a:latin typeface="Arial"/>
              </a:defRPr>
            </a:pPr>
            <a:r>
              <a:t>SCARSO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79" y="1280160"/>
            <a:ext cx="2514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i="1">
                <a:solidFill>
                  <a:srgbClr val="FFFFFF"/>
                </a:solidFill>
                <a:latin typeface="Arial"/>
              </a:defRPr>
            </a:pPr>
            <a:r>
              <a:t>"Scrivi un post Instagram per il nostro prodotto"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79" y="2194560"/>
            <a:ext cx="251460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B4B4B4"/>
                </a:solidFill>
                <a:latin typeface="Arial"/>
              </a:defRPr>
            </a:pPr>
            <a:r>
              <a:t>Output:</a:t>
            </a:r>
            <a:br/>
            <a:r>
              <a:t>Scopri il nostro fantastico prodotto!</a:t>
            </a:r>
            <a:br/>
            <a:r>
              <a:t>Non perdere questa occasione!</a:t>
            </a:r>
            <a:br/>
            <a:r>
              <a:t>#prodotto #novità #shopping</a:t>
            </a:r>
            <a:br/>
            <a:br/>
            <a:r>
              <a:t>→ Generico, zero valore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154680" y="914400"/>
            <a:ext cx="2743200" cy="3931920"/>
          </a:xfrm>
          <a:prstGeom prst="rect">
            <a:avLst/>
          </a:prstGeom>
          <a:solidFill>
            <a:srgbClr val="252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154680" y="914400"/>
            <a:ext cx="54864" cy="3931920"/>
          </a:xfrm>
          <a:prstGeom prst="rect">
            <a:avLst/>
          </a:prstGeom>
          <a:solidFill>
            <a:srgbClr val="4499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91840" y="1005840"/>
            <a:ext cx="2560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449955"/>
                </a:solidFill>
                <a:latin typeface="Arial"/>
              </a:defRPr>
            </a:pPr>
            <a:r>
              <a:t>EFFICACE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91840" y="1280160"/>
            <a:ext cx="2514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i="1">
                <a:solidFill>
                  <a:srgbClr val="FFFFFF"/>
                </a:solidFill>
                <a:latin typeface="Arial"/>
              </a:defRPr>
            </a:pPr>
            <a:r>
              <a:t>"Post per CloudCRM, gestionale PMI. Target: imprenditori 35-50 frustrati da Excel. Max 120 char, 3 hashtag."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91840" y="2194560"/>
            <a:ext cx="251460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B4B4B4"/>
                </a:solidFill>
                <a:latin typeface="Arial"/>
              </a:defRPr>
            </a:pPr>
            <a:r>
              <a:t>Output:</a:t>
            </a:r>
            <a:br/>
            <a:r>
              <a:t>Gestisci i clienti su Excel? CloudCRM: tutto in un posto.</a:t>
            </a:r>
            <a:br/>
            <a:r>
              <a:t>Prova gratis → link in bio</a:t>
            </a:r>
            <a:br/>
            <a:r>
              <a:t>#CRM #PMI</a:t>
            </a:r>
            <a:br/>
            <a:br/>
            <a:r>
              <a:t>→ Specifico, usabile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35040" y="914400"/>
            <a:ext cx="2743200" cy="3931920"/>
          </a:xfrm>
          <a:prstGeom prst="rect">
            <a:avLst/>
          </a:prstGeom>
          <a:solidFill>
            <a:srgbClr val="252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035040" y="914400"/>
            <a:ext cx="54864" cy="3931920"/>
          </a:xfrm>
          <a:prstGeom prst="rect">
            <a:avLst/>
          </a:prstGeom>
          <a:solidFill>
            <a:srgbClr val="905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72200" y="1005840"/>
            <a:ext cx="2560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9055FF"/>
                </a:solidFill>
                <a:latin typeface="Arial"/>
              </a:defRPr>
            </a:pPr>
            <a:r>
              <a:t>AVANZATO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72200" y="1280160"/>
            <a:ext cx="2514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i="1">
                <a:solidFill>
                  <a:srgbClr val="FFFFFF"/>
                </a:solidFill>
                <a:latin typeface="Arial"/>
              </a:defRPr>
            </a:pPr>
            <a:r>
              <a:t>Multi-step orchestrato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72200" y="2194560"/>
            <a:ext cx="251460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B4B4B4"/>
                </a:solidFill>
                <a:latin typeface="Arial"/>
              </a:defRPr>
            </a:pPr>
            <a:r>
              <a:t>STEP 1: Genera 5 varianti</a:t>
            </a:r>
            <a:br/>
            <a:r>
              <a:t>STEP 2: Valuta (hook, CTA, engagement 1-10)</a:t>
            </a:r>
            <a:br/>
            <a:r>
              <a:t>STEP 3: Ottimizza la migliore</a:t>
            </a:r>
            <a:br/>
            <a:br/>
            <a:r>
              <a:t>→ Output validato e ottimizzato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  <a:latin typeface="Arial"/>
              </a:defRPr>
            </a:pPr>
            <a:r>
              <a:t>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FFFFF"/>
                </a:solidFill>
                <a:latin typeface="Arial"/>
              </a:defRPr>
            </a:pPr>
            <a:r>
              <a:t>ESEMPI TESTI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Arial"/>
              </a:defRPr>
            </a:pPr>
            <a:r>
              <a:t>ESEMPIO 2: EMAIL MARKETING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914400"/>
            <a:ext cx="2743200" cy="3931920"/>
          </a:xfrm>
          <a:prstGeom prst="rect">
            <a:avLst/>
          </a:prstGeom>
          <a:solidFill>
            <a:srgbClr val="252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914400"/>
            <a:ext cx="54864" cy="3931920"/>
          </a:xfrm>
          <a:prstGeom prst="rect">
            <a:avLst/>
          </a:prstGeom>
          <a:solidFill>
            <a:srgbClr val="99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79" y="1005840"/>
            <a:ext cx="2560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994444"/>
                </a:solidFill>
                <a:latin typeface="Arial"/>
              </a:defRPr>
            </a:pPr>
            <a:r>
              <a:t>SCARSO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79" y="1280160"/>
            <a:ext cx="2514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i="1">
                <a:solidFill>
                  <a:srgbClr val="FFFFFF"/>
                </a:solidFill>
                <a:latin typeface="Arial"/>
              </a:defRPr>
            </a:pPr>
            <a:r>
              <a:t>"Fammi una email di marketing"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79" y="2194560"/>
            <a:ext cx="251460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B4B4B4"/>
                </a:solidFill>
                <a:latin typeface="Arial"/>
              </a:defRPr>
            </a:pPr>
            <a:r>
              <a:t>Output:</a:t>
            </a:r>
            <a:br/>
            <a:r>
              <a:t>Oggetto: Offerta speciale!</a:t>
            </a:r>
            <a:br/>
            <a:r>
              <a:t>Caro cliente, non perdere...</a:t>
            </a:r>
            <a:br/>
            <a:br/>
            <a:r>
              <a:t>→ Spam folder garantito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154680" y="914400"/>
            <a:ext cx="2743200" cy="3931920"/>
          </a:xfrm>
          <a:prstGeom prst="rect">
            <a:avLst/>
          </a:prstGeom>
          <a:solidFill>
            <a:srgbClr val="252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154680" y="914400"/>
            <a:ext cx="54864" cy="3931920"/>
          </a:xfrm>
          <a:prstGeom prst="rect">
            <a:avLst/>
          </a:prstGeom>
          <a:solidFill>
            <a:srgbClr val="4499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91840" y="1005840"/>
            <a:ext cx="2560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449955"/>
                </a:solidFill>
                <a:latin typeface="Arial"/>
              </a:defRPr>
            </a:pPr>
            <a:r>
              <a:t>EFFICACE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91840" y="1280160"/>
            <a:ext cx="2514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i="1">
                <a:solidFill>
                  <a:srgbClr val="FFFFFF"/>
                </a:solidFill>
                <a:latin typeface="Arial"/>
              </a:defRPr>
            </a:pPr>
            <a:r>
              <a:t>"Email riattivazione B2B, clienti inattivi 6 mesi. Software gestionale, sconto 20%. Max 100 parole, no urgenza finta."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91840" y="2194560"/>
            <a:ext cx="251460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B4B4B4"/>
                </a:solidFill>
                <a:latin typeface="Arial"/>
              </a:defRPr>
            </a:pPr>
            <a:r>
              <a:t>Output:</a:t>
            </a:r>
            <a:br/>
            <a:r>
              <a:t>Oggetto: Il tuo gestionale ti aspetta</a:t>
            </a:r>
            <a:br/>
            <a:r>
              <a:t>Sono 6 mesi. Abbiamo aggiunto...</a:t>
            </a:r>
            <a:br/>
            <a:r>
              <a:t>Rinnova con -20%</a:t>
            </a:r>
            <a:br/>
            <a:br/>
            <a:r>
              <a:t>→ Personalizzato, credibile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35040" y="914400"/>
            <a:ext cx="2743200" cy="3931920"/>
          </a:xfrm>
          <a:prstGeom prst="rect">
            <a:avLst/>
          </a:prstGeom>
          <a:solidFill>
            <a:srgbClr val="252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035040" y="914400"/>
            <a:ext cx="54864" cy="3931920"/>
          </a:xfrm>
          <a:prstGeom prst="rect">
            <a:avLst/>
          </a:prstGeom>
          <a:solidFill>
            <a:srgbClr val="905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72200" y="1005840"/>
            <a:ext cx="2560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9055FF"/>
                </a:solidFill>
                <a:latin typeface="Arial"/>
              </a:defRPr>
            </a:pPr>
            <a:r>
              <a:t>AVANZATO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72200" y="1280160"/>
            <a:ext cx="2514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i="1">
                <a:solidFill>
                  <a:srgbClr val="FFFFFF"/>
                </a:solidFill>
                <a:latin typeface="Arial"/>
              </a:defRPr>
            </a:pPr>
            <a:r>
              <a:t>Multi-step orchestrato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72200" y="2194560"/>
            <a:ext cx="251460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B4B4B4"/>
                </a:solidFill>
                <a:latin typeface="Arial"/>
              </a:defRPr>
            </a:pPr>
            <a:r>
              <a:t>STEP 1: Crea sequenza 3 email</a:t>
            </a:r>
            <a:br/>
            <a:r>
              <a:t>STEP 2: 2 varianti oggetto (A/B)</a:t>
            </a:r>
            <a:br/>
            <a:r>
              <a:t>STEP 3: Predici open rate</a:t>
            </a:r>
            <a:br/>
            <a:br/>
            <a:r>
              <a:t>→ Sequenza completa + test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  <a:latin typeface="Arial"/>
              </a:defRPr>
            </a:pPr>
            <a:r>
              <a:t>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FFFFF"/>
                </a:solidFill>
                <a:latin typeface="Arial"/>
              </a:defRPr>
            </a:pPr>
            <a:r>
              <a:t>ESEMPI TESTI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Arial"/>
              </a:defRPr>
            </a:pPr>
            <a:r>
              <a:t>ESEMPIO 3: BRAINSTORMING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914400"/>
            <a:ext cx="2743200" cy="3931920"/>
          </a:xfrm>
          <a:prstGeom prst="rect">
            <a:avLst/>
          </a:prstGeom>
          <a:solidFill>
            <a:srgbClr val="252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914400"/>
            <a:ext cx="54864" cy="3931920"/>
          </a:xfrm>
          <a:prstGeom prst="rect">
            <a:avLst/>
          </a:prstGeom>
          <a:solidFill>
            <a:srgbClr val="99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79" y="1005840"/>
            <a:ext cx="2560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994444"/>
                </a:solidFill>
                <a:latin typeface="Arial"/>
              </a:defRPr>
            </a:pPr>
            <a:r>
              <a:t>SCARSO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79" y="1280160"/>
            <a:ext cx="2514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i="1">
                <a:solidFill>
                  <a:srgbClr val="FFFFFF"/>
                </a:solidFill>
                <a:latin typeface="Arial"/>
              </a:defRPr>
            </a:pPr>
            <a:r>
              <a:t>"Dammi idee per una campagna"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79" y="2194560"/>
            <a:ext cx="251460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B4B4B4"/>
                </a:solidFill>
                <a:latin typeface="Arial"/>
              </a:defRPr>
            </a:pPr>
            <a:r>
              <a:t>Output:</a:t>
            </a:r>
            <a:br/>
            <a:r>
              <a:t>1. Social media</a:t>
            </a:r>
            <a:br/>
            <a:r>
              <a:t>2. Influencer</a:t>
            </a:r>
            <a:br/>
            <a:r>
              <a:t>3. Contest</a:t>
            </a:r>
            <a:br/>
            <a:r>
              <a:t>4. Email</a:t>
            </a:r>
            <a:br/>
            <a:br/>
            <a:r>
              <a:t>→ Lista generica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154680" y="914400"/>
            <a:ext cx="2743200" cy="3931920"/>
          </a:xfrm>
          <a:prstGeom prst="rect">
            <a:avLst/>
          </a:prstGeom>
          <a:solidFill>
            <a:srgbClr val="252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154680" y="914400"/>
            <a:ext cx="54864" cy="3931920"/>
          </a:xfrm>
          <a:prstGeom prst="rect">
            <a:avLst/>
          </a:prstGeom>
          <a:solidFill>
            <a:srgbClr val="4499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91840" y="1005840"/>
            <a:ext cx="2560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449955"/>
                </a:solidFill>
                <a:latin typeface="Arial"/>
              </a:defRPr>
            </a:pPr>
            <a:r>
              <a:t>EFFICACE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91840" y="1280160"/>
            <a:ext cx="2514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i="1">
                <a:solidFill>
                  <a:srgbClr val="FFFFFF"/>
                </a:solidFill>
                <a:latin typeface="Arial"/>
              </a:defRPr>
            </a:pPr>
            <a:r>
              <a:t>"5 concept social B2C. Abbigliamento sportivo sostenibile. Donne 25-40. Per ogni: nome, visual, copy, canali."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91840" y="2194560"/>
            <a:ext cx="251460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B4B4B4"/>
                </a:solidFill>
                <a:latin typeface="Arial"/>
              </a:defRPr>
            </a:pPr>
            <a:r>
              <a:t>Output:</a:t>
            </a:r>
            <a:br/>
            <a:r>
              <a:t>1. #RiVesti - UGC riciclo</a:t>
            </a:r>
            <a:br/>
            <a:r>
              <a:t>2. 30GiorniGreen - Challenge</a:t>
            </a:r>
            <a:br/>
            <a:r>
              <a:t>...</a:t>
            </a:r>
            <a:br/>
            <a:br/>
            <a:r>
              <a:t>→ Concept actionable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35040" y="914400"/>
            <a:ext cx="2743200" cy="3931920"/>
          </a:xfrm>
          <a:prstGeom prst="rect">
            <a:avLst/>
          </a:prstGeom>
          <a:solidFill>
            <a:srgbClr val="252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035040" y="914400"/>
            <a:ext cx="54864" cy="3931920"/>
          </a:xfrm>
          <a:prstGeom prst="rect">
            <a:avLst/>
          </a:prstGeom>
          <a:solidFill>
            <a:srgbClr val="905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72200" y="1005840"/>
            <a:ext cx="2560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9055FF"/>
                </a:solidFill>
                <a:latin typeface="Arial"/>
              </a:defRPr>
            </a:pPr>
            <a:r>
              <a:t>AVANZATO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72200" y="1280160"/>
            <a:ext cx="2514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i="1">
                <a:solidFill>
                  <a:srgbClr val="FFFFFF"/>
                </a:solidFill>
                <a:latin typeface="Arial"/>
              </a:defRPr>
            </a:pPr>
            <a:r>
              <a:t>Multi-step orchestrato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72200" y="2194560"/>
            <a:ext cx="251460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B4B4B4"/>
                </a:solidFill>
                <a:latin typeface="Arial"/>
              </a:defRPr>
            </a:pPr>
            <a:r>
              <a:t>STEP 1: Analizza competitor settore</a:t>
            </a:r>
            <a:br/>
            <a:r>
              <a:t>STEP 2: 3 concept differenzianti</a:t>
            </a:r>
            <a:br/>
            <a:r>
              <a:t>STEP 3: Stress test + rischi</a:t>
            </a:r>
            <a:br/>
            <a:r>
              <a:t>STEP 4: Raccomandazione finale</a:t>
            </a:r>
            <a:br/>
            <a:r>
              <a:t>→ Strategia completa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" cy="5138928"/>
          </a:xfrm>
          <a:prstGeom prst="rect">
            <a:avLst/>
          </a:prstGeom>
          <a:solidFill>
            <a:srgbClr val="FF8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645920"/>
            <a:ext cx="73152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FF8055"/>
                </a:solidFill>
                <a:latin typeface="Arial"/>
              </a:defRPr>
            </a:pPr>
            <a:r>
              <a:t>Esempi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377440"/>
            <a:ext cx="73152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FF8055"/>
                </a:solidFill>
                <a:latin typeface="Arial"/>
              </a:defRPr>
            </a:pPr>
            <a:r>
              <a:t>Immagini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291840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  <a:latin typeface="Arial"/>
              </a:defRPr>
            </a:pPr>
            <a:r>
              <a:t>Approccio iterativo e incrementale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  <a:latin typeface="Arial"/>
              </a:defRPr>
            </a:pPr>
            <a:r>
              <a:t>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FFFFF"/>
                </a:solidFill>
                <a:latin typeface="Arial"/>
              </a:defRPr>
            </a:pPr>
            <a:r>
              <a:t>IMMAGINI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Arial"/>
              </a:defRPr>
            </a:pPr>
            <a:r>
              <a:t>LE 5 FUNZIONALITÀ CHIAVE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FFFFF"/>
                </a:solidFill>
                <a:latin typeface="Arial"/>
              </a:defRPr>
            </a:pPr>
            <a:r>
              <a:t>• Cambia Colore - modificare colori specifici (lacci, suola, etc.)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916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FFFFF"/>
                </a:solidFill>
                <a:latin typeface="Arial"/>
              </a:defRPr>
            </a:pPr>
            <a:r>
              <a:t>• Cambia Dettaglio - aggiungere/modificare elementi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945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FFFFF"/>
                </a:solidFill>
                <a:latin typeface="Arial"/>
              </a:defRPr>
            </a:pPr>
            <a:r>
              <a:t>• Foto Emozionale - creare lifestyle shots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6974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FFFFF"/>
                </a:solidFill>
                <a:latin typeface="Arial"/>
              </a:defRPr>
            </a:pPr>
            <a:r>
              <a:t>• Cambia Posa - stesso soggetto, posa diversa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2004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FFFFF"/>
                </a:solidFill>
                <a:latin typeface="Arial"/>
              </a:defRPr>
            </a:pPr>
            <a:r>
              <a:t>• Cambia Background - nuovo ambiente, stesso soggetto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  <a:latin typeface="Arial"/>
              </a:defRPr>
            </a:pPr>
            <a:r>
              <a:t>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FFFFF"/>
                </a:solidFill>
                <a:latin typeface="Arial"/>
              </a:defRPr>
            </a:pPr>
            <a:r>
              <a:t>IMMAGINI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Arial"/>
              </a:defRPr>
            </a:pPr>
            <a:r>
              <a:t>APPROCCIO ITERATIVO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515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B4B4B4"/>
                </a:solidFill>
                <a:latin typeface="Arial"/>
              </a:defRPr>
            </a:pPr>
            <a:r>
              <a:t>Non chiedere tutto insieme. Procedi per gradi, validando ogni step.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737360"/>
            <a:ext cx="8229600" cy="685800"/>
          </a:xfrm>
          <a:prstGeom prst="rect">
            <a:avLst/>
          </a:prstGeom>
          <a:solidFill>
            <a:srgbClr val="252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737360"/>
            <a:ext cx="73152" cy="685800"/>
          </a:xfrm>
          <a:prstGeom prst="rect">
            <a:avLst/>
          </a:prstGeom>
          <a:solidFill>
            <a:srgbClr val="55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874519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55B4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182880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Arial"/>
              </a:defRPr>
            </a:pPr>
            <a:r>
              <a:t>Input iniziale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084831"/>
            <a:ext cx="74980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B4B4B4"/>
                </a:solidFill>
                <a:latin typeface="Arial"/>
              </a:defRPr>
            </a:pPr>
            <a:r>
              <a:t>Carica l'immagine di partenza (es. 4 viste prodotto)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514600"/>
            <a:ext cx="8229600" cy="685800"/>
          </a:xfrm>
          <a:prstGeom prst="rect">
            <a:avLst/>
          </a:prstGeom>
          <a:solidFill>
            <a:srgbClr val="252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2514600"/>
            <a:ext cx="73152" cy="685800"/>
          </a:xfrm>
          <a:prstGeom prst="rect">
            <a:avLst/>
          </a:prstGeom>
          <a:solidFill>
            <a:srgbClr val="55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65176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55B4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260604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Arial"/>
              </a:defRPr>
            </a:pPr>
            <a:r>
              <a:t>Modifica singola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2862072"/>
            <a:ext cx="74980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B4B4B4"/>
                </a:solidFill>
                <a:latin typeface="Arial"/>
              </a:defRPr>
            </a:pPr>
            <a:r>
              <a:t>Cambia UN solo attributo (es. colore lacci a #48cae4)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291840"/>
            <a:ext cx="8229600" cy="685800"/>
          </a:xfrm>
          <a:prstGeom prst="rect">
            <a:avLst/>
          </a:prstGeom>
          <a:solidFill>
            <a:srgbClr val="252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3291840"/>
            <a:ext cx="73152" cy="685800"/>
          </a:xfrm>
          <a:prstGeom prst="rect">
            <a:avLst/>
          </a:prstGeom>
          <a:solidFill>
            <a:srgbClr val="55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342900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55B4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338328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Arial"/>
              </a:defRPr>
            </a:pPr>
            <a:r>
              <a:t>Validazione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3639312"/>
            <a:ext cx="74980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B4B4B4"/>
                </a:solidFill>
                <a:latin typeface="Arial"/>
              </a:defRPr>
            </a:pPr>
            <a:r>
              <a:t>Controlla il risultato. Se OK, usa come nuovo input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4069080"/>
            <a:ext cx="8229600" cy="685800"/>
          </a:xfrm>
          <a:prstGeom prst="rect">
            <a:avLst/>
          </a:prstGeom>
          <a:solidFill>
            <a:srgbClr val="252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7200" y="4069080"/>
            <a:ext cx="73152" cy="685800"/>
          </a:xfrm>
          <a:prstGeom prst="rect">
            <a:avLst/>
          </a:prstGeom>
          <a:solidFill>
            <a:srgbClr val="55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420624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55B4FF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" y="416052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Arial"/>
              </a:defRPr>
            </a:pPr>
            <a:r>
              <a:t>Iterazione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4416552"/>
            <a:ext cx="74980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B4B4B4"/>
                </a:solidFill>
                <a:latin typeface="Arial"/>
              </a:defRPr>
            </a:pPr>
            <a:r>
              <a:t>Ripeti: modifica successiva sul risultato validato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4846320"/>
            <a:ext cx="8229600" cy="685800"/>
          </a:xfrm>
          <a:prstGeom prst="rect">
            <a:avLst/>
          </a:prstGeom>
          <a:solidFill>
            <a:srgbClr val="252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57200" y="4846320"/>
            <a:ext cx="73152" cy="685800"/>
          </a:xfrm>
          <a:prstGeom prst="rect">
            <a:avLst/>
          </a:prstGeom>
          <a:solidFill>
            <a:srgbClr val="55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498348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55B4FF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5840" y="4937759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Arial"/>
              </a:defRPr>
            </a:pPr>
            <a:r>
              <a:t>Output finale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5840" y="5193792"/>
            <a:ext cx="74980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B4B4B4"/>
                </a:solidFill>
                <a:latin typeface="Arial"/>
              </a:defRPr>
            </a:pPr>
            <a:r>
              <a:t>Dopo 3-4 step: prodotto completamente personalizzato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  <a:latin typeface="Arial"/>
              </a:defRPr>
            </a:pPr>
            <a:r>
              <a:t>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FFFFF"/>
                </a:solidFill>
                <a:latin typeface="Arial"/>
              </a:defRPr>
            </a:pPr>
            <a:r>
              <a:t>IMMAGINI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Arial"/>
              </a:defRPr>
            </a:pPr>
            <a:r>
              <a:t>ESEMPIO: CAMBIO COLORE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515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B4B4B4"/>
                </a:solidFill>
                <a:latin typeface="Arial"/>
              </a:defRPr>
            </a:pPr>
            <a:r>
              <a:t>Modifica precisa di un singolo elemento mantenendo tutto il resto identico.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737360"/>
            <a:ext cx="8229600" cy="685800"/>
          </a:xfrm>
          <a:prstGeom prst="rect">
            <a:avLst/>
          </a:prstGeom>
          <a:solidFill>
            <a:srgbClr val="252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737360"/>
            <a:ext cx="73152" cy="685800"/>
          </a:xfrm>
          <a:prstGeom prst="rect">
            <a:avLst/>
          </a:prstGeom>
          <a:solidFill>
            <a:srgbClr val="55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874519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55B4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182880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Arial"/>
              </a:defRPr>
            </a:pPr>
            <a:r>
              <a:t>Prompt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084831"/>
            <a:ext cx="74980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B4B4B4"/>
                </a:solidFill>
                <a:latin typeface="Arial"/>
              </a:defRPr>
            </a:pPr>
            <a:r>
              <a:t>"Cambia il colore dei lacci da bianco a #48cae4"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514600"/>
            <a:ext cx="8229600" cy="685800"/>
          </a:xfrm>
          <a:prstGeom prst="rect">
            <a:avLst/>
          </a:prstGeom>
          <a:solidFill>
            <a:srgbClr val="252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2514600"/>
            <a:ext cx="73152" cy="685800"/>
          </a:xfrm>
          <a:prstGeom prst="rect">
            <a:avLst/>
          </a:prstGeom>
          <a:solidFill>
            <a:srgbClr val="55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65176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55B4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260604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Arial"/>
              </a:defRPr>
            </a:pPr>
            <a:r>
              <a:t>Vincoli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2862072"/>
            <a:ext cx="74980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B4B4B4"/>
                </a:solidFill>
                <a:latin typeface="Arial"/>
              </a:defRPr>
            </a:pPr>
            <a:r>
              <a:t>Mantieni ESATTAMENTE inquadratura, luce, sfondo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291840"/>
            <a:ext cx="8229600" cy="685800"/>
          </a:xfrm>
          <a:prstGeom prst="rect">
            <a:avLst/>
          </a:prstGeom>
          <a:solidFill>
            <a:srgbClr val="252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3291840"/>
            <a:ext cx="73152" cy="685800"/>
          </a:xfrm>
          <a:prstGeom prst="rect">
            <a:avLst/>
          </a:prstGeom>
          <a:solidFill>
            <a:srgbClr val="55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342900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55B4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338328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Arial"/>
              </a:defRPr>
            </a:pPr>
            <a:r>
              <a:t>Verifica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3639312"/>
            <a:ext cx="74980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B4B4B4"/>
                </a:solidFill>
                <a:latin typeface="Arial"/>
              </a:defRPr>
            </a:pPr>
            <a:r>
              <a:t>Il risultato deve sembrare una foto reale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4069080"/>
            <a:ext cx="8229600" cy="685800"/>
          </a:xfrm>
          <a:prstGeom prst="rect">
            <a:avLst/>
          </a:prstGeom>
          <a:solidFill>
            <a:srgbClr val="252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7200" y="4069080"/>
            <a:ext cx="73152" cy="685800"/>
          </a:xfrm>
          <a:prstGeom prst="rect">
            <a:avLst/>
          </a:prstGeom>
          <a:solidFill>
            <a:srgbClr val="55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420624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55B4FF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" y="416052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Arial"/>
              </a:defRPr>
            </a:pPr>
            <a:r>
              <a:t>Iterazione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4416552"/>
            <a:ext cx="74980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B4B4B4"/>
                </a:solidFill>
                <a:latin typeface="Arial"/>
              </a:defRPr>
            </a:pPr>
            <a:r>
              <a:t>Se OK → usa come base per la modifica successiva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  <a:latin typeface="Arial"/>
              </a:defRPr>
            </a:pPr>
            <a:r>
              <a:t>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FFFFF"/>
                </a:solidFill>
                <a:latin typeface="Arial"/>
              </a:defRPr>
            </a:pPr>
            <a:r>
              <a:t>IMMAGINI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Arial"/>
              </a:defRPr>
            </a:pPr>
            <a:r>
              <a:t>ESEMPIO: CATENA DI 3 MODIFICHE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515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B4B4B4"/>
                </a:solidFill>
                <a:latin typeface="Arial"/>
              </a:defRPr>
            </a:pPr>
            <a:r>
              <a:t>Trasforma un campione in variante complessa con controllo totale.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737360"/>
            <a:ext cx="8229600" cy="685800"/>
          </a:xfrm>
          <a:prstGeom prst="rect">
            <a:avLst/>
          </a:prstGeom>
          <a:solidFill>
            <a:srgbClr val="252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737360"/>
            <a:ext cx="73152" cy="685800"/>
          </a:xfrm>
          <a:prstGeom prst="rect">
            <a:avLst/>
          </a:prstGeom>
          <a:solidFill>
            <a:srgbClr val="55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874519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55B4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182880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Arial"/>
              </a:defRPr>
            </a:pPr>
            <a:r>
              <a:t>Step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084831"/>
            <a:ext cx="74980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B4B4B4"/>
                </a:solidFill>
                <a:latin typeface="Arial"/>
              </a:defRPr>
            </a:pPr>
            <a:r>
              <a:t>Lacci: bianco → blu (#48cae4) → Valida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514600"/>
            <a:ext cx="8229600" cy="685800"/>
          </a:xfrm>
          <a:prstGeom prst="rect">
            <a:avLst/>
          </a:prstGeom>
          <a:solidFill>
            <a:srgbClr val="252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2514600"/>
            <a:ext cx="73152" cy="685800"/>
          </a:xfrm>
          <a:prstGeom prst="rect">
            <a:avLst/>
          </a:prstGeom>
          <a:solidFill>
            <a:srgbClr val="55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65176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55B4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260604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Arial"/>
              </a:defRPr>
            </a:pPr>
            <a:r>
              <a:t>Step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2862072"/>
            <a:ext cx="74980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B4B4B4"/>
                </a:solidFill>
                <a:latin typeface="Arial"/>
              </a:defRPr>
            </a:pPr>
            <a:r>
              <a:t>Suola: beige → verde (#a7c957) → Valida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291840"/>
            <a:ext cx="8229600" cy="685800"/>
          </a:xfrm>
          <a:prstGeom prst="rect">
            <a:avLst/>
          </a:prstGeom>
          <a:solidFill>
            <a:srgbClr val="252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3291840"/>
            <a:ext cx="73152" cy="685800"/>
          </a:xfrm>
          <a:prstGeom prst="rect">
            <a:avLst/>
          </a:prstGeom>
          <a:solidFill>
            <a:srgbClr val="55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342900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55B4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338328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Arial"/>
              </a:defRPr>
            </a:pPr>
            <a:r>
              <a:t>Step 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3639312"/>
            <a:ext cx="74980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B4B4B4"/>
                </a:solidFill>
                <a:latin typeface="Arial"/>
              </a:defRPr>
            </a:pPr>
            <a:r>
              <a:t>Dettaglio tallone: aggiungi pelle arancione (#ff9e00)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4069080"/>
            <a:ext cx="8229600" cy="685800"/>
          </a:xfrm>
          <a:prstGeom prst="rect">
            <a:avLst/>
          </a:prstGeom>
          <a:solidFill>
            <a:srgbClr val="252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7200" y="4069080"/>
            <a:ext cx="73152" cy="685800"/>
          </a:xfrm>
          <a:prstGeom prst="rect">
            <a:avLst/>
          </a:prstGeom>
          <a:solidFill>
            <a:srgbClr val="55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420624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55B4FF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" y="416052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Arial"/>
              </a:defRPr>
            </a:pPr>
            <a:r>
              <a:t>Risultato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4416552"/>
            <a:ext cx="74980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B4B4B4"/>
                </a:solidFill>
                <a:latin typeface="Arial"/>
              </a:defRPr>
            </a:pPr>
            <a:r>
              <a:t>3 dettagli modificati, massimo realismo fotografico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  <a:latin typeface="Arial"/>
              </a:defRPr>
            </a:pPr>
            <a:r>
              <a:t>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FFFFF"/>
                </a:solidFill>
                <a:latin typeface="Arial"/>
              </a:defRPr>
            </a:pPr>
            <a:r>
              <a:t>IMMAGINI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Arial"/>
              </a:defRPr>
            </a:pPr>
            <a:r>
              <a:t>ESEMPIO: FOTO LIFESTYLE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515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B4B4B4"/>
                </a:solidFill>
                <a:latin typeface="Arial"/>
              </a:defRPr>
            </a:pPr>
            <a:r>
              <a:t>Crea immagini emozionali per campagne advertising.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737360"/>
            <a:ext cx="8229600" cy="685800"/>
          </a:xfrm>
          <a:prstGeom prst="rect">
            <a:avLst/>
          </a:prstGeom>
          <a:solidFill>
            <a:srgbClr val="252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737360"/>
            <a:ext cx="73152" cy="685800"/>
          </a:xfrm>
          <a:prstGeom prst="rect">
            <a:avLst/>
          </a:prstGeom>
          <a:solidFill>
            <a:srgbClr val="55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874519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55B4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182880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Arial"/>
              </a:defRPr>
            </a:pPr>
            <a:r>
              <a:t>Soggetto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084831"/>
            <a:ext cx="74980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B4B4B4"/>
                </a:solidFill>
                <a:latin typeface="Arial"/>
              </a:defRPr>
            </a:pPr>
            <a:r>
              <a:t>Donna 30 anni, espressione energica, in movimento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514600"/>
            <a:ext cx="8229600" cy="685800"/>
          </a:xfrm>
          <a:prstGeom prst="rect">
            <a:avLst/>
          </a:prstGeom>
          <a:solidFill>
            <a:srgbClr val="252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2514600"/>
            <a:ext cx="73152" cy="685800"/>
          </a:xfrm>
          <a:prstGeom prst="rect">
            <a:avLst/>
          </a:prstGeom>
          <a:solidFill>
            <a:srgbClr val="55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65176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55B4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260604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Arial"/>
              </a:defRPr>
            </a:pPr>
            <a:r>
              <a:t>Prodotto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2862072"/>
            <a:ext cx="74980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B4B4B4"/>
                </a:solidFill>
                <a:latin typeface="Arial"/>
              </a:defRPr>
            </a:pPr>
            <a:r>
              <a:t>Indossa/usa il prodotto in modo naturale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291840"/>
            <a:ext cx="8229600" cy="685800"/>
          </a:xfrm>
          <a:prstGeom prst="rect">
            <a:avLst/>
          </a:prstGeom>
          <a:solidFill>
            <a:srgbClr val="252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3291840"/>
            <a:ext cx="73152" cy="685800"/>
          </a:xfrm>
          <a:prstGeom prst="rect">
            <a:avLst/>
          </a:prstGeom>
          <a:solidFill>
            <a:srgbClr val="55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342900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55B4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338328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Arial"/>
              </a:defRPr>
            </a:pPr>
            <a:r>
              <a:t>Location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3639312"/>
            <a:ext cx="74980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B4B4B4"/>
                </a:solidFill>
                <a:latin typeface="Arial"/>
              </a:defRPr>
            </a:pPr>
            <a:r>
              <a:t>Parco urbano, luce naturale mattutina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4069080"/>
            <a:ext cx="8229600" cy="685800"/>
          </a:xfrm>
          <a:prstGeom prst="rect">
            <a:avLst/>
          </a:prstGeom>
          <a:solidFill>
            <a:srgbClr val="252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7200" y="4069080"/>
            <a:ext cx="73152" cy="685800"/>
          </a:xfrm>
          <a:prstGeom prst="rect">
            <a:avLst/>
          </a:prstGeom>
          <a:solidFill>
            <a:srgbClr val="55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420624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55B4FF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" y="416052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Arial"/>
              </a:defRPr>
            </a:pPr>
            <a:r>
              <a:t>Variante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4416552"/>
            <a:ext cx="74980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B4B4B4"/>
                </a:solidFill>
                <a:latin typeface="Arial"/>
              </a:defRPr>
            </a:pPr>
            <a:r>
              <a:t>Cambia solo background: stesso soggetto, location diversa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" cy="5138928"/>
          </a:xfrm>
          <a:prstGeom prst="rect">
            <a:avLst/>
          </a:prstGeom>
          <a:solidFill>
            <a:srgbClr val="FF8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645920"/>
            <a:ext cx="73152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FF8055"/>
                </a:solidFill>
                <a:latin typeface="Arial"/>
              </a:defRPr>
            </a:pPr>
            <a:r>
              <a:t>Gli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377440"/>
            <a:ext cx="73152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FF8055"/>
                </a:solidFill>
                <a:latin typeface="Arial"/>
              </a:defRPr>
            </a:pPr>
            <a:r>
              <a:t>Strumenti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291840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  <a:latin typeface="Arial"/>
              </a:defRPr>
            </a:pPr>
            <a:r>
              <a:t>Panoramica dei tool disponibili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  <a:latin typeface="Arial"/>
              </a:defRPr>
            </a:pPr>
            <a:r>
              <a:t>21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FFFFF"/>
                </a:solidFill>
                <a:latin typeface="Arial"/>
              </a:defRPr>
            </a:pPr>
            <a:r>
              <a:t>STRUMENTI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Arial"/>
              </a:defRPr>
            </a:pPr>
            <a:r>
              <a:t>CREAZIONE TESTI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8055"/>
                </a:solidFill>
                <a:latin typeface="Arial"/>
              </a:defRPr>
            </a:pPr>
            <a:r>
              <a:t>ChatGPT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0" y="118872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FFFFF"/>
                </a:solidFill>
                <a:latin typeface="Arial"/>
              </a:defRPr>
            </a:pPr>
            <a:r>
              <a:t>Il più versatile - copy, email, brainstorming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82880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8055"/>
                </a:solidFill>
                <a:latin typeface="Arial"/>
              </a:defRPr>
            </a:pPr>
            <a:r>
              <a:t>Claude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0" y="182880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FFFFF"/>
                </a:solidFill>
                <a:latin typeface="Arial"/>
              </a:defRPr>
            </a:pPr>
            <a:r>
              <a:t>Testi lunghi e ragionamento complesso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46888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8055"/>
                </a:solidFill>
                <a:latin typeface="Arial"/>
              </a:defRPr>
            </a:pPr>
            <a:r>
              <a:t>Gemini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246888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FFFFF"/>
                </a:solidFill>
                <a:latin typeface="Arial"/>
              </a:defRPr>
            </a:pPr>
            <a:r>
              <a:t>Integrato con Google Workspace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10896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8055"/>
                </a:solidFill>
                <a:latin typeface="Arial"/>
              </a:defRPr>
            </a:pPr>
            <a:r>
              <a:t>Jasper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0" y="310896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FFFFF"/>
                </a:solidFill>
                <a:latin typeface="Arial"/>
              </a:defRPr>
            </a:pPr>
            <a:r>
              <a:t>Specifico marketing - template pronti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74904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8055"/>
                </a:solidFill>
                <a:latin typeface="Arial"/>
              </a:defRPr>
            </a:pPr>
            <a:r>
              <a:t>Copy.ai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374904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FFFFF"/>
                </a:solidFill>
                <a:latin typeface="Arial"/>
              </a:defRPr>
            </a:pPr>
            <a:r>
              <a:t>Workflow collaborativi per team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  <a:latin typeface="Arial"/>
              </a:defRPr>
            </a:pPr>
            <a:r>
              <a:t>22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FFFFF"/>
                </a:solidFill>
                <a:latin typeface="Arial"/>
              </a:defRPr>
            </a:pPr>
            <a:r>
              <a:t>STRUMENTI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Arial"/>
              </a:defRPr>
            </a:pPr>
            <a:r>
              <a:t>CREAZIONE IMMAGINI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8055"/>
                </a:solidFill>
                <a:latin typeface="Arial"/>
              </a:defRPr>
            </a:pPr>
            <a:r>
              <a:t>Midjourney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0" y="118872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FFFFF"/>
                </a:solidFill>
                <a:latin typeface="Arial"/>
              </a:defRPr>
            </a:pPr>
            <a:r>
              <a:t>Qualità artistica top - via Discord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82880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8055"/>
                </a:solidFill>
                <a:latin typeface="Arial"/>
              </a:defRPr>
            </a:pPr>
            <a:r>
              <a:t>DALL-E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0" y="182880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FFFFF"/>
                </a:solidFill>
                <a:latin typeface="Arial"/>
              </a:defRPr>
            </a:pPr>
            <a:r>
              <a:t>Dentro ChatGPT - facile e veloce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46888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8055"/>
                </a:solidFill>
                <a:latin typeface="Arial"/>
              </a:defRPr>
            </a:pPr>
            <a:r>
              <a:t>Adobe Firefly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246888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FFFFF"/>
                </a:solidFill>
                <a:latin typeface="Arial"/>
              </a:defRPr>
            </a:pPr>
            <a:r>
              <a:t>Integrato con Photoshop - diritti chiari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10896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8055"/>
                </a:solidFill>
                <a:latin typeface="Arial"/>
              </a:defRPr>
            </a:pPr>
            <a:r>
              <a:t>Canva AI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0" y="310896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FFFFF"/>
                </a:solidFill>
                <a:latin typeface="Arial"/>
              </a:defRPr>
            </a:pPr>
            <a:r>
              <a:t>Per chi già usa Canva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74904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8055"/>
                </a:solidFill>
                <a:latin typeface="Arial"/>
              </a:defRPr>
            </a:pPr>
            <a:r>
              <a:t>Ideogram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374904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FFFFF"/>
                </a:solidFill>
                <a:latin typeface="Arial"/>
              </a:defRPr>
            </a:pPr>
            <a:r>
              <a:t>Ottimo per testo nelle immagini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  <a:latin typeface="Arial"/>
              </a:defRPr>
            </a:pPr>
            <a:r>
              <a:t>23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FFFFF"/>
                </a:solidFill>
                <a:latin typeface="Arial"/>
              </a:defRPr>
            </a:pPr>
            <a:r>
              <a:t>STRUMENTI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Arial"/>
              </a:defRPr>
            </a:pPr>
            <a:r>
              <a:t>VIDEO E AUDIO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8055"/>
                </a:solidFill>
                <a:latin typeface="Arial"/>
              </a:defRPr>
            </a:pPr>
            <a:r>
              <a:t>Runway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0" y="118872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FFFFF"/>
                </a:solidFill>
                <a:latin typeface="Arial"/>
              </a:defRPr>
            </a:pPr>
            <a:r>
              <a:t>Video da testo/immagini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82880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8055"/>
                </a:solidFill>
                <a:latin typeface="Arial"/>
              </a:defRPr>
            </a:pPr>
            <a:r>
              <a:t>HeyGen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0" y="182880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FFFFF"/>
                </a:solidFill>
                <a:latin typeface="Arial"/>
              </a:defRPr>
            </a:pPr>
            <a:r>
              <a:t>Avatar parlanti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46888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8055"/>
                </a:solidFill>
                <a:latin typeface="Arial"/>
              </a:defRPr>
            </a:pPr>
            <a:r>
              <a:t>ElevenLabs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246888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FFFFF"/>
                </a:solidFill>
                <a:latin typeface="Arial"/>
              </a:defRPr>
            </a:pPr>
            <a:r>
              <a:t>Voci sintetiche realistiche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10896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8055"/>
                </a:solidFill>
                <a:latin typeface="Arial"/>
              </a:defRPr>
            </a:pPr>
            <a:r>
              <a:t>Suno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0" y="310896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FFFFF"/>
                </a:solidFill>
                <a:latin typeface="Arial"/>
              </a:defRPr>
            </a:pPr>
            <a:r>
              <a:t>Musica e jingle da testo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74904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8055"/>
                </a:solidFill>
                <a:latin typeface="Arial"/>
              </a:defRPr>
            </a:pPr>
            <a:r>
              <a:t>CapCut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374904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FFFFF"/>
                </a:solidFill>
                <a:latin typeface="Arial"/>
              </a:defRPr>
            </a:pPr>
            <a:r>
              <a:t>Editing video con AI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" cy="5138928"/>
          </a:xfrm>
          <a:prstGeom prst="rect">
            <a:avLst/>
          </a:prstGeom>
          <a:solidFill>
            <a:srgbClr val="FF8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645920"/>
            <a:ext cx="73152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FF8055"/>
                </a:solidFill>
                <a:latin typeface="Arial"/>
              </a:defRPr>
            </a:pPr>
            <a:r>
              <a:t>Ora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377440"/>
            <a:ext cx="73152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FF8055"/>
                </a:solidFill>
                <a:latin typeface="Arial"/>
              </a:defRPr>
            </a:pPr>
            <a:r>
              <a:t>Provate Voi!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291840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  <a:latin typeface="Arial"/>
              </a:defRPr>
            </a:pPr>
            <a:r>
              <a:t>Esercitazione interattiva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  <a:latin typeface="Arial"/>
              </a:defRPr>
            </a:pPr>
            <a:r>
              <a:t>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FFFFF"/>
                </a:solidFill>
                <a:latin typeface="Arial"/>
              </a:defRPr>
            </a:pPr>
            <a:r>
              <a:t>ESERCITAZIONE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Arial"/>
              </a:defRPr>
            </a:pPr>
            <a:r>
              <a:t>ESERCITAZIONE INTERATTIVA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97280"/>
            <a:ext cx="8229600" cy="3200400"/>
          </a:xfrm>
          <a:prstGeom prst="rect">
            <a:avLst/>
          </a:prstGeom>
          <a:solidFill>
            <a:srgbClr val="252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097280"/>
            <a:ext cx="73152" cy="3200400"/>
          </a:xfrm>
          <a:prstGeom prst="rect">
            <a:avLst/>
          </a:prstGeom>
          <a:solidFill>
            <a:srgbClr val="FF8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37160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  <a:latin typeface="Arial"/>
              </a:defRPr>
            </a:pPr>
            <a:r>
              <a:t>1. Scansiona il QR code con il tuo smartphone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874519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  <a:latin typeface="Arial"/>
              </a:defRPr>
            </a:pPr>
            <a:r>
              <a:t>2. Scegli un prompt template dalla pagina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377439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  <a:latin typeface="Arial"/>
              </a:defRPr>
            </a:pPr>
            <a:r>
              <a:t>3. Clicca 'Copia' e apri ChatGPT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880359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  <a:latin typeface="Arial"/>
              </a:defRPr>
            </a:pPr>
            <a:r>
              <a:t>4. Incolla e sostituisci i campi [IN ARANCIONE]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383279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  <a:latin typeface="Arial"/>
              </a:defRPr>
            </a:pPr>
            <a:r>
              <a:t>5. Premi invio e guarda il risultato!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0" y="1371600"/>
            <a:ext cx="1828800" cy="1828800"/>
          </a:xfrm>
          <a:prstGeom prst="rect">
            <a:avLst/>
          </a:prstGeom>
          <a:solidFill>
            <a:srgbClr val="FFFFFF"/>
          </a:solidFill>
          <a:ln>
            <a:solidFill>
              <a:srgbClr val="FF8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329184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  <a:latin typeface="Arial"/>
              </a:defRPr>
            </a:pPr>
            <a:r>
              <a:t>[QR CODE]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48056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FF8055"/>
                </a:solidFill>
                <a:latin typeface="Arial"/>
              </a:defRPr>
            </a:pPr>
            <a:r>
              <a:t>Pagina con tutti i prompt: [URL DA INSERIRE]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  <a:latin typeface="Arial"/>
              </a:defRPr>
            </a:pPr>
            <a:r>
              <a:t>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FFFFF"/>
                </a:solidFill>
                <a:latin typeface="Arial"/>
              </a:defRPr>
            </a:pPr>
            <a:r>
              <a:t>TIPS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Arial"/>
              </a:defRPr>
            </a:pPr>
            <a:r>
              <a:t>PER INIZIARE DOMANI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FFFFF"/>
                </a:solidFill>
                <a:latin typeface="Arial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457200" y="16916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FFFFF"/>
                </a:solidFill>
                <a:latin typeface="Arial"/>
              </a:defRPr>
            </a:pPr>
            <a:r>
              <a:t>• Parti da UN solo strumento e imparalo bene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945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FFFFF"/>
                </a:solidFill>
                <a:latin typeface="Arial"/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457200" y="26974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FFFFF"/>
                </a:solidFill>
                <a:latin typeface="Arial"/>
              </a:defRPr>
            </a:pPr>
            <a:r>
              <a:t>• Salva i prompt che funzionano in un documento condiviso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2004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FFFFF"/>
                </a:solidFill>
                <a:latin typeface="Arial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457200" y="37033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FFFFF"/>
                </a:solidFill>
                <a:latin typeface="Arial"/>
              </a:defRPr>
            </a:pPr>
            <a:r>
              <a:t>• Non fidarti ciecamente: verifica sempre fatti e numeri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2062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FFFFF"/>
                </a:solidFill>
                <a:latin typeface="Arial"/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457200" y="4709159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FFFFF"/>
                </a:solidFill>
                <a:latin typeface="Arial"/>
              </a:defRPr>
            </a:pPr>
            <a:r>
              <a:t>• Itera: il primo output raramente è quello finale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" cy="5138928"/>
          </a:xfrm>
          <a:prstGeom prst="rect">
            <a:avLst/>
          </a:prstGeom>
          <a:solidFill>
            <a:srgbClr val="FF8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011680"/>
            <a:ext cx="73152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FF8055"/>
                </a:solidFill>
                <a:latin typeface="Arial"/>
              </a:defRPr>
            </a:pPr>
            <a:r>
              <a:t>Domande?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926080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  <a:latin typeface="Arial"/>
              </a:defRPr>
            </a:pPr>
            <a:r>
              <a:t>Grazie per l'attenzione!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